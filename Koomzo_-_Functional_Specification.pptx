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A61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3259634"/>
            <a:ext cx="781050" cy="781050"/>
          </a:xfrm>
          <a:prstGeom prst="roundRect">
            <a:avLst>
              <a:gd name="adj" fmla="val 29268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3412034"/>
            <a:ext cx="15960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Koomzo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990600" y="4612184"/>
            <a:ext cx="16214914" cy="118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500"/>
              </a:lnSpc>
              <a:buNone/>
            </a:pPr>
            <a:r>
              <a:rPr lang="en-US" sz="8850" b="1" spc="-3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Specification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990600" y="6368207"/>
            <a:ext cx="21875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90600" y="6834932"/>
            <a:ext cx="20648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b="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August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74541" y="6368207"/>
            <a:ext cx="36096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3474541" y="6834932"/>
            <a:ext cx="337995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b="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→ Backend handoff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51353" y="6368207"/>
            <a:ext cx="481146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251353" y="6834932"/>
            <a:ext cx="45052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b="1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modules and the workspace shell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from the interface inward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states what it reads, what it writes, and which rules hold even when a client misbehaves — so services can be built against it without guessing.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412804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594771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5875" y="490909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55948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5875" y="6042571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renders from data. Adding a module or refining a screen is a data edit, not a layout edit.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6050" y="4594771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1325" y="490909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791325" y="55948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not wishlist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91325" y="6042571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rules, events and endpoints per module. Open questions are named rather than assumed away.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500" y="4594771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96775" y="490909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16" name="Text 14"/>
          <p:cNvSpPr/>
          <p:nvPr/>
        </p:nvSpPr>
        <p:spPr>
          <a:xfrm>
            <a:off x="12296775" y="55948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to ship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296775" y="6042571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is final until its module ships. Sections mature as modules are designed and refined.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hold for every module. A module that violates one is wrong, not innovative.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422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08996"/>
            <a:ext cx="5295900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44233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shell, one rail, every module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5875" y="4870996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module fills the surface it is given and lands on its own core screen. Learning one module's navigation is learning all of them.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6050" y="4108996"/>
            <a:ext cx="5295900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1325" y="44233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one data model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91325" y="4870996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install ships every capability. Setup decides what the operator meets — nothing is compiled out or licensed separately.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01500" y="4108996"/>
            <a:ext cx="5295900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6775" y="44233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 is sacred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96775" y="4870996"/>
            <a:ext cx="484651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 limit, sync failure or configuration change may block a sale, a kitchen ticket or an appointment. Degrade reporting; never interrupt trade.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0600" y="6766471"/>
            <a:ext cx="5295900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5875" y="70807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state silently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85875" y="7528471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quantity, tender and configuration change is an appended record with an actor and a timestamp. Corrections are new records.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6050" y="6766471"/>
            <a:ext cx="5295900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1325" y="70807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compose, never duplicate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791325" y="7528471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trade is a new configuration of existing objects plus the few it genuinely lacks. Two modules may never own the same object.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01500" y="6766471"/>
            <a:ext cx="5295900" cy="2105025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96775" y="7080796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computed, never pushed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296775" y="7528471"/>
            <a:ext cx="484651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and counts are projections of the event stream. If nothing is waiting, nothing is shown.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resolution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visibility passes through four stages. Each stage may only subtract — implemented once, server-side, and mirrored by the client.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412804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594771"/>
            <a:ext cx="4076700" cy="2387650"/>
          </a:xfrm>
          <a:custGeom>
            <a:avLst/>
            <a:gdLst/>
            <a:ahLst/>
            <a:cxnLst/>
            <a:rect l="l" t="t" r="r" b="b"/>
            <a:pathLst>
              <a:path w="4076700" h="2387650">
                <a:moveTo>
                  <a:pt x="152400" y="0"/>
                </a:moveTo>
                <a:lnTo>
                  <a:pt x="4076700" y="0"/>
                </a:lnTo>
                <a:lnTo>
                  <a:pt x="4076700" y="2387650"/>
                </a:lnTo>
                <a:lnTo>
                  <a:pt x="152400" y="238765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6972895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4594771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4594771"/>
            <a:ext cx="9525" cy="2387650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0" name="Text 8"/>
          <p:cNvSpPr/>
          <p:nvPr/>
        </p:nvSpPr>
        <p:spPr>
          <a:xfrm>
            <a:off x="1285875" y="4928146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5875" y="5328196"/>
            <a:ext cx="38452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ceiling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85875" y="5737771"/>
            <a:ext cx="3600545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tenant's plan can ever expose. Overage notifies; it never blocks a sale.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067300" y="4594771"/>
            <a:ext cx="4076700" cy="2387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7300" y="6972895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5" name="Shape 13"/>
          <p:cNvSpPr/>
          <p:nvPr/>
        </p:nvSpPr>
        <p:spPr>
          <a:xfrm>
            <a:off x="5067300" y="4594771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67300" y="4594771"/>
            <a:ext cx="9525" cy="2387650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7" name="Text 15"/>
          <p:cNvSpPr/>
          <p:nvPr/>
        </p:nvSpPr>
        <p:spPr>
          <a:xfrm>
            <a:off x="5362575" y="4928146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62575" y="5328196"/>
            <a:ext cx="38452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&amp; switch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362575" y="5737771"/>
            <a:ext cx="3600545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· lite · mid · full, plus per-capability switches the operator sets in Setup.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144000" y="4594771"/>
            <a:ext cx="4076700" cy="2387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6972895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4594771"/>
            <a:ext cx="40767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4594771"/>
            <a:ext cx="9525" cy="2387650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4" name="Text 22"/>
          <p:cNvSpPr/>
          <p:nvPr/>
        </p:nvSpPr>
        <p:spPr>
          <a:xfrm>
            <a:off x="9439275" y="4928146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39275" y="5328196"/>
            <a:ext cx="38452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439275" y="5737771"/>
            <a:ext cx="3600545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manager · staff, immutable for the session.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220700" y="4594771"/>
            <a:ext cx="4076700" cy="2387650"/>
          </a:xfrm>
          <a:custGeom>
            <a:avLst/>
            <a:gdLst/>
            <a:ahLst/>
            <a:cxnLst/>
            <a:rect l="l" t="t" r="r" b="b"/>
            <a:pathLst>
              <a:path w="4076700" h="2387650">
                <a:moveTo>
                  <a:pt x="0" y="0"/>
                </a:moveTo>
                <a:lnTo>
                  <a:pt x="3924300" y="0"/>
                </a:lnTo>
                <a:arcTo hR="152400" wR="152400" stAng="16200000" swAng="5400000"/>
                <a:lnTo>
                  <a:pt x="4076700" y="2235250"/>
                </a:lnTo>
                <a:arcTo hR="152400" wR="152400" stAng="0" swAng="5400000"/>
                <a:lnTo>
                  <a:pt x="0" y="2387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15975" y="4928146"/>
            <a:ext cx="3834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515975" y="5328196"/>
            <a:ext cx="3834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515975" y="5737771"/>
            <a:ext cx="3590735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KDS, kiosk, display, tablet, phone. Some capabilities are device-scoped.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90600" y="9111704"/>
            <a:ext cx="179374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hidden capability must reject its own endpoints with </a:t>
            </a:r>
            <a:pPr algn="l" indent="0" marL="0">
              <a:lnSpc>
                <a:spcPct val="135625"/>
              </a:lnSpc>
              <a:buNone/>
            </a:pPr>
            <a:r>
              <a:rPr lang="en-US" sz="1800" b="1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CAPABILITY_DISABLED </a:t>
            </a:r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merely be unreachable in the UI.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the server enforces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611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2927896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A61B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92789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3550" y="2927896"/>
            <a:ext cx="1032857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Winding, not off.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capability holding open obligations cannot go straight to off. Documents go to </a:t>
            </a:r>
            <a:pPr algn="l" indent="0" marL="0">
              <a:lnSpc>
                <a:spcPct val="126875"/>
              </a:lnSpc>
              <a:buNone/>
            </a:pPr>
            <a:r>
              <a:rPr lang="en-US" sz="1800" b="1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winding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money is hard-blocked until reconciled or a variance is recorded with an owner PIN and reason.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4335512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A61BF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335512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3550" y="4335512"/>
            <a:ext cx="1032857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is annotated, never invented. </a:t>
            </a:r>
            <a:pPr algn="l" indent="0" marL="0">
              <a:lnSpc>
                <a:spcPct val="126875"/>
              </a:lnSpc>
              <a:buNone/>
            </a:pPr>
            <a:r>
              <a:rPr lang="en-US" sz="1800" b="1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enabled_from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set once and never cleared. Reports start a series where the data actually starts.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90600" y="5356473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A61BF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5356473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3550" y="5356473"/>
            <a:ext cx="1032857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is idempotent.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carry a client-generated key; replays return the original result, not a duplicate.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6377434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A61B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6377434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3550" y="6377434"/>
            <a:ext cx="1032857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floats on the wire.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quantity are integers in minor units. Zero-decimal currencies carry an exponent of 0 — the minor unit is the franc.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739839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6A61B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39839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3550" y="7398395"/>
            <a:ext cx="1032857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posting, never a copy.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charge raised in one module and settled in another is a single posting with a source module; the originating document stays immutable.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are projections, not notifications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611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956471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09850" y="2927896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 of work waiting on the signed-in person today, on that screen. Absent at zero, capped at 99+.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809851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9850" y="3781276"/>
            <a:ext cx="6455474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domain event names the rules it dirties; the projector recomputes only those. Folding the same event twice changes nothing.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0600" y="4994672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first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9850" y="4966097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capability behind a rule is off, locked or out of role, the rule is never evaluated and no counter is returned.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0600" y="5848052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9850" y="5819477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housekeeper's count is her own rooms; a manager's is the property's. Two people on one rail may see different numbers.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0600" y="6701433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the route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9850" y="6672858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countable must also be reachable by navigating. A badge is an accelerator, not a channel.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10700" y="2927896"/>
            <a:ext cx="7886700" cy="5126087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5463" y="2932658"/>
            <a:ext cx="2792909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5463" y="3494633"/>
            <a:ext cx="279290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8" name="Text 16"/>
          <p:cNvSpPr/>
          <p:nvPr/>
        </p:nvSpPr>
        <p:spPr>
          <a:xfrm>
            <a:off x="9663113" y="3104108"/>
            <a:ext cx="23813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208371" y="2932658"/>
            <a:ext cx="5084266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208371" y="3494633"/>
            <a:ext cx="508426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12456021" y="3104108"/>
            <a:ext cx="474149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415463" y="4879479"/>
            <a:ext cx="279290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3" name="Text 21"/>
          <p:cNvSpPr/>
          <p:nvPr/>
        </p:nvSpPr>
        <p:spPr>
          <a:xfrm>
            <a:off x="9663113" y="3694658"/>
            <a:ext cx="2381396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/v1/attention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208371" y="4879479"/>
            <a:ext cx="508426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56021" y="3694658"/>
            <a:ext cx="4741494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counter visible to the caller, already resolved and scoped. Also on bootstrap, so a cold start paints badges.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15463" y="5932884"/>
            <a:ext cx="279290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7" name="Text 25"/>
          <p:cNvSpPr/>
          <p:nvPr/>
        </p:nvSpPr>
        <p:spPr>
          <a:xfrm>
            <a:off x="9663113" y="5079504"/>
            <a:ext cx="23813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/v1/attention/stream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2208371" y="5932884"/>
            <a:ext cx="508426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9" name="Text 27"/>
          <p:cNvSpPr/>
          <p:nvPr/>
        </p:nvSpPr>
        <p:spPr>
          <a:xfrm>
            <a:off x="12456021" y="5079504"/>
            <a:ext cx="474149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</a:t>
            </a:r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attention.changed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client patches one counter; it never re-polls the set.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15463" y="6986290"/>
            <a:ext cx="279290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31" name="Text 29"/>
          <p:cNvSpPr/>
          <p:nvPr/>
        </p:nvSpPr>
        <p:spPr>
          <a:xfrm>
            <a:off x="9663113" y="6132909"/>
            <a:ext cx="23813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/v1/attention/rules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2208371" y="6986290"/>
            <a:ext cx="508426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33" name="Text 31"/>
          <p:cNvSpPr/>
          <p:nvPr/>
        </p:nvSpPr>
        <p:spPr>
          <a:xfrm>
            <a:off x="12456021" y="6132909"/>
            <a:ext cx="474149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catalogue with each rule's enabled state — drives the Setup toggles.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63113" y="7186315"/>
            <a:ext cx="2381396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/v1/attention/recompute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456021" y="7186315"/>
            <a:ext cx="4741494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Admin-only cold rebuild from the event log. Must produce identical counts.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08429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FFFFFF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50339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538341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 sections plus the workspace shell. Each states its purpose, its entities, then one block per screen.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611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2927896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9675" y="3166021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EECF8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3737521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4145161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4286250" y="2927896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5325" y="3166021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8F0FD"/>
          </a:solidFill>
          <a:ln/>
        </p:spPr>
      </p:sp>
      <p:sp>
        <p:nvSpPr>
          <p:cNvPr id="11" name="Text 9"/>
          <p:cNvSpPr/>
          <p:nvPr/>
        </p:nvSpPr>
        <p:spPr>
          <a:xfrm>
            <a:off x="4505325" y="3737521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5325" y="4145161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&amp; ledger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7581900" y="2927896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0975" y="3166021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BEAF2"/>
          </a:solidFill>
          <a:ln/>
        </p:spPr>
      </p:sp>
      <p:sp>
        <p:nvSpPr>
          <p:cNvPr id="15" name="Text 13"/>
          <p:cNvSpPr/>
          <p:nvPr/>
        </p:nvSpPr>
        <p:spPr>
          <a:xfrm>
            <a:off x="7800975" y="3737521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00975" y="4145161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book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0877550" y="2927896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96625" y="3166021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DEAE4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6625" y="3737521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096625" y="4145161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&amp; kitchen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4173200" y="2927896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92275" y="3166021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4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14392275" y="3737521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392275" y="4145161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90600" y="4798963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9675" y="5037088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CECFB"/>
          </a:solidFill>
          <a:ln/>
        </p:spPr>
      </p:sp>
      <p:sp>
        <p:nvSpPr>
          <p:cNvPr id="27" name="Text 25"/>
          <p:cNvSpPr/>
          <p:nvPr/>
        </p:nvSpPr>
        <p:spPr>
          <a:xfrm>
            <a:off x="1209675" y="5608588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9675" y="6016228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later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4286250" y="4798963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5325" y="5037088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2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4505325" y="5608588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05325" y="6016228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rack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7581900" y="4798963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00975" y="5037088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7EDDA"/>
          </a:solidFill>
          <a:ln/>
        </p:spPr>
      </p:sp>
      <p:sp>
        <p:nvSpPr>
          <p:cNvPr id="35" name="Text 33"/>
          <p:cNvSpPr/>
          <p:nvPr/>
        </p:nvSpPr>
        <p:spPr>
          <a:xfrm>
            <a:off x="7800975" y="5608588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800975" y="6016228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&amp; PLU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0877550" y="4798963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96625" y="5037088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5F2EF"/>
          </a:solidFill>
          <a:ln/>
        </p:spPr>
      </p:sp>
      <p:sp>
        <p:nvSpPr>
          <p:cNvPr id="39" name="Text 37"/>
          <p:cNvSpPr/>
          <p:nvPr/>
        </p:nvSpPr>
        <p:spPr>
          <a:xfrm>
            <a:off x="11096625" y="5608588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96625" y="6016228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facts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4173200" y="4798963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392275" y="5037088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0E9FE"/>
          </a:solidFill>
          <a:ln/>
        </p:spPr>
      </p:sp>
      <p:sp>
        <p:nvSpPr>
          <p:cNvPr id="43" name="Text 41"/>
          <p:cNvSpPr/>
          <p:nvPr/>
        </p:nvSpPr>
        <p:spPr>
          <a:xfrm>
            <a:off x="14392275" y="5608588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392275" y="6016228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/ then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990600" y="6670030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09675" y="690815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4E6FA"/>
          </a:solidFill>
          <a:ln/>
        </p:spPr>
      </p:sp>
      <p:sp>
        <p:nvSpPr>
          <p:cNvPr id="47" name="Text 45"/>
          <p:cNvSpPr/>
          <p:nvPr/>
        </p:nvSpPr>
        <p:spPr>
          <a:xfrm>
            <a:off x="1209675" y="7479655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Signage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09675" y="7887295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screens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4286250" y="6670030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05325" y="690815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F7E6E5"/>
          </a:solidFill>
          <a:ln/>
        </p:spPr>
      </p:sp>
      <p:sp>
        <p:nvSpPr>
          <p:cNvPr id="51" name="Text 49"/>
          <p:cNvSpPr/>
          <p:nvPr/>
        </p:nvSpPr>
        <p:spPr>
          <a:xfrm>
            <a:off x="4505325" y="7479655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&amp; Wellness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505325" y="7887295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7581900" y="6670030"/>
            <a:ext cx="3124200" cy="1699617"/>
          </a:xfrm>
          <a:prstGeom prst="roundRect">
            <a:avLst>
              <a:gd name="adj" fmla="val 8967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00975" y="6908155"/>
            <a:ext cx="438150" cy="438150"/>
          </a:xfrm>
          <a:prstGeom prst="roundRect">
            <a:avLst>
              <a:gd name="adj" fmla="val 28261"/>
            </a:avLst>
          </a:prstGeom>
          <a:solidFill>
            <a:srgbClr val="ECEEF1"/>
          </a:solidFill>
          <a:ln/>
        </p:spPr>
      </p:sp>
      <p:sp>
        <p:nvSpPr>
          <p:cNvPr id="55" name="Text 53"/>
          <p:cNvSpPr/>
          <p:nvPr/>
        </p:nvSpPr>
        <p:spPr>
          <a:xfrm>
            <a:off x="7800975" y="7479655"/>
            <a:ext cx="295465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shell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800975" y="7887295"/>
            <a:ext cx="2954655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85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990600" y="9111704"/>
            <a:ext cx="179374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in this specification is built. Status in the document reflects the front end, not the service behind it.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compose; they never duplicate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trade is a new configuration of existing objects plus the few it genuinely lacks.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422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08996"/>
            <a:ext cx="16306800" cy="4794647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5363" y="4113758"/>
            <a:ext cx="4237286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995363" y="4675733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9" name="Text 7"/>
          <p:cNvSpPr/>
          <p:nvPr/>
        </p:nvSpPr>
        <p:spPr>
          <a:xfrm>
            <a:off x="1243013" y="4285208"/>
            <a:ext cx="38691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32648" y="4113758"/>
            <a:ext cx="5092750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232648" y="4675733"/>
            <a:ext cx="509275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0298" y="4285208"/>
            <a:ext cx="4750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OWNS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325398" y="4113758"/>
            <a:ext cx="6967240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25398" y="4675733"/>
            <a:ext cx="696724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73048" y="4285208"/>
            <a:ext cx="66809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BORROWS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5363" y="5729139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7" name="Text 15"/>
          <p:cNvSpPr/>
          <p:nvPr/>
        </p:nvSpPr>
        <p:spPr>
          <a:xfrm>
            <a:off x="1243013" y="4875758"/>
            <a:ext cx="38691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32648" y="5729139"/>
            <a:ext cx="509275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0298" y="4875758"/>
            <a:ext cx="47502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Rooms, stays, folios, rates, statutory guest register, night audit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325398" y="5729139"/>
            <a:ext cx="696724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573048" y="4875758"/>
            <a:ext cx="668095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Restaurant module posts to the folio; Retail rings up the shop. No register of its own.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5363" y="6782544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3" name="Text 21"/>
          <p:cNvSpPr/>
          <p:nvPr/>
        </p:nvSpPr>
        <p:spPr>
          <a:xfrm>
            <a:off x="1243013" y="5929164"/>
            <a:ext cx="38691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32648" y="6782544"/>
            <a:ext cx="509275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0298" y="5929164"/>
            <a:ext cx="47502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Weighing, PLU codes, age prompts, promotions, waste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325398" y="6782544"/>
            <a:ext cx="696724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3048" y="5929164"/>
            <a:ext cx="668095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Retail register and the Inventory catalogue. Not a second till.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5363" y="7835950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9" name="Text 27"/>
          <p:cNvSpPr/>
          <p:nvPr/>
        </p:nvSpPr>
        <p:spPr>
          <a:xfrm>
            <a:off x="1243013" y="6982569"/>
            <a:ext cx="38691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Signage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32648" y="7835950"/>
            <a:ext cx="509275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0298" y="6982569"/>
            <a:ext cx="475023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Players, loops, layouts, proof of play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325398" y="7835950"/>
            <a:ext cx="696724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3048" y="6982569"/>
            <a:ext cx="668095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menu lines and queue tickets read live from the module that already holds them.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43013" y="8035975"/>
            <a:ext cx="3869104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&amp; Wellness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0298" y="8035975"/>
            <a:ext cx="4750232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Members, plans, admission, classes, lockers, equipment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573048" y="8035975"/>
            <a:ext cx="6680957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sells through Retail; commissions settle through the shared payroll objects.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engines under every module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611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2927896"/>
            <a:ext cx="8029575" cy="347662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5875" y="324222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5F2EF"/>
          </a:solidFill>
          <a:ln/>
        </p:spPr>
      </p:sp>
      <p:sp>
        <p:nvSpPr>
          <p:cNvPr id="7" name="Text 5"/>
          <p:cNvSpPr/>
          <p:nvPr/>
        </p:nvSpPr>
        <p:spPr>
          <a:xfrm>
            <a:off x="1285875" y="3928021"/>
            <a:ext cx="81829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5875" y="4375696"/>
            <a:ext cx="7662196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authoring surface for every question a business asks itself — opening checks, incident reports, wholesale applications — and one place the answers land. Multi-step logic, authored data sources with schema and offline policy, and two parent-child rules: visibility and option filtering. Hidden fields save no answer.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67825" y="2927896"/>
            <a:ext cx="8029575" cy="347662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63100" y="324222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0E9FE"/>
          </a:solidFill>
          <a:ln/>
        </p:spPr>
      </p:sp>
      <p:sp>
        <p:nvSpPr>
          <p:cNvPr id="11" name="Text 9"/>
          <p:cNvSpPr/>
          <p:nvPr/>
        </p:nvSpPr>
        <p:spPr>
          <a:xfrm>
            <a:off x="9563100" y="3928021"/>
            <a:ext cx="81829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63100" y="4375696"/>
            <a:ext cx="766219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a business would otherwise keep in somebody's head: when this happens, do that — authored as recipes, watched as runs. The irreducible job is seeing what runs by itself and being able to stop it; branching, webhooks and human approval steps switch on with scale.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0600" y="9111704"/>
            <a:ext cx="179374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engines read the same event stream every module emits, so a new trigger costs a rule rather than a service.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public-facing surface of everything Koomzo already knows — menu boards, price screens, now-serving walls and notice boards.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412804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4623346"/>
            <a:ext cx="1571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09850" y="4594771"/>
            <a:ext cx="547924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Players, loops, layouts, schedules and proof of play.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5145286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none of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9850" y="5116711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queue state or menu lines. Those are read live from the module that holds them.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5998666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from cache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9850" y="5970091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dead line never blanks a screen. The player renders its last good payload and reconciles on reconnect.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0600" y="6852047"/>
            <a:ext cx="1504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screens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9850" y="6823472"/>
            <a:ext cx="645547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is the core and can never be hidden; every other view is a capability, so the rail is derived.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10700" y="4594771"/>
            <a:ext cx="3829050" cy="2163961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05975" y="4928146"/>
            <a:ext cx="35623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9705975" y="5785396"/>
            <a:ext cx="35623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in the module rail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68350" y="4594771"/>
            <a:ext cx="3829050" cy="2163961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63625" y="4928146"/>
            <a:ext cx="35623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700" dirty="0"/>
          </a:p>
        </p:txBody>
      </p:sp>
      <p:sp>
        <p:nvSpPr>
          <p:cNvPr id="19" name="Text 17"/>
          <p:cNvSpPr/>
          <p:nvPr/>
        </p:nvSpPr>
        <p:spPr>
          <a:xfrm>
            <a:off x="13763625" y="5785396"/>
            <a:ext cx="33356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duplicated from other modules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10700" y="6987332"/>
            <a:ext cx="3829050" cy="2163961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05975" y="7320707"/>
            <a:ext cx="35623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9705975" y="8177957"/>
            <a:ext cx="33356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boards: tarifs, cours, occupancy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68350" y="6987332"/>
            <a:ext cx="3829050" cy="2163961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63625" y="7320707"/>
            <a:ext cx="35623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13763625" y="8177957"/>
            <a:ext cx="33356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Cache-first playback through an outage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&amp; Wellness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members' club is a gate and a schedule. The irreducible job is the gate: is this person allowed in, right now.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422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08996"/>
            <a:ext cx="3933825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4423321"/>
            <a:ext cx="3677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85875" y="4870996"/>
            <a:ext cx="34435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admission. Member state is cached, one resolver decides, renewals get a grace period, and refusals queue locally.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14925" y="4108996"/>
            <a:ext cx="3933825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200" y="4423321"/>
            <a:ext cx="3677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&amp; plans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10200" y="4870996"/>
            <a:ext cx="34435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cycles, freezes and packages. Admission is append-only; occupancy and balance are projections.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39250" y="4108996"/>
            <a:ext cx="3933825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4525" y="4423321"/>
            <a:ext cx="3677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34525" y="4870996"/>
            <a:ext cx="344357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Timetable, capacity and trainer assignment, with commissions settling on the shared objects.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63575" y="4108996"/>
            <a:ext cx="3933825" cy="2447925"/>
          </a:xfrm>
          <a:prstGeom prst="roundRect">
            <a:avLst>
              <a:gd name="adj" fmla="val 6226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8850" y="4423321"/>
            <a:ext cx="3677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658850" y="4870996"/>
            <a:ext cx="34435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Lockers by bank — prefix plus range, retired or active. Equipment tracks service intervals and overdue status.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" y="9111704"/>
            <a:ext cx="179374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telecom outage never locks a paying member out. The device decides; the server reconciles.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FFFFFF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Cameroon and West Africa first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95055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Defaults, not localisations bolted on later.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156496"/>
            <a:ext cx="163068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3623221"/>
            <a:ext cx="3905250" cy="2483941"/>
          </a:xfrm>
          <a:prstGeom prst="roundRect">
            <a:avLst>
              <a:gd name="adj" fmla="val 613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3956596"/>
            <a:ext cx="364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XAF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285875" y="4813846"/>
            <a:ext cx="341414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Zero-decimal currency. Clients read the exponent and never divide by 100.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4450" y="3623221"/>
            <a:ext cx="3905250" cy="2483941"/>
          </a:xfrm>
          <a:prstGeom prst="roundRect">
            <a:avLst>
              <a:gd name="adj" fmla="val 613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9725" y="3956596"/>
            <a:ext cx="364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5419725" y="4813846"/>
            <a:ext cx="341414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is a first-class tender beside cash, settling asynchronously on callback.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58300" y="3623221"/>
            <a:ext cx="3905250" cy="2483941"/>
          </a:xfrm>
          <a:prstGeom prst="roundRect">
            <a:avLst>
              <a:gd name="adj" fmla="val 613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3575" y="3956596"/>
            <a:ext cx="364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FR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9553575" y="4813846"/>
            <a:ext cx="341414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toggle that persists across pages and devices.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92150" y="3623221"/>
            <a:ext cx="3905250" cy="2483941"/>
          </a:xfrm>
          <a:prstGeom prst="roundRect">
            <a:avLst>
              <a:gd name="adj" fmla="val 613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87425" y="3956596"/>
            <a:ext cx="364617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5700" dirty="0"/>
          </a:p>
        </p:txBody>
      </p:sp>
      <p:sp>
        <p:nvSpPr>
          <p:cNvPr id="17" name="Text 15"/>
          <p:cNvSpPr/>
          <p:nvPr/>
        </p:nvSpPr>
        <p:spPr>
          <a:xfrm>
            <a:off x="13687425" y="4813846"/>
            <a:ext cx="341414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as identity and as a legitimate primary device — no SMS gate at signup.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A61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544491"/>
            <a:ext cx="8029026" cy="2712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 limit, sync failure or configuration change may block a sale, a kitchen ticket, or an appointment.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990600" y="6580584"/>
            <a:ext cx="179374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 5 — the transaction is sacred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is the normal case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Registers, kitchen displays, kiosks and the gym gate keep working through an outage and reconcile on reconnect.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422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08996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5875" y="442332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8" name="Text 6"/>
          <p:cNvSpPr/>
          <p:nvPr/>
        </p:nvSpPr>
        <p:spPr>
          <a:xfrm>
            <a:off x="1285875" y="51091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on the device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5875" y="5556796"/>
            <a:ext cx="484651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state plus one resolver, so admission and tender do not wait on a round trip.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6050" y="4108996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1325" y="442332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791325" y="51091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and replay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91325" y="5556796"/>
            <a:ext cx="484651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carry a client-generated idempotency key. Replays return the original result.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500" y="4108996"/>
            <a:ext cx="5295900" cy="2790825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96775" y="442332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EECF8"/>
          </a:solidFill>
          <a:ln/>
        </p:spPr>
      </p:sp>
      <p:sp>
        <p:nvSpPr>
          <p:cNvPr id="16" name="Text 14"/>
          <p:cNvSpPr/>
          <p:nvPr/>
        </p:nvSpPr>
        <p:spPr>
          <a:xfrm>
            <a:off x="12296775" y="5109121"/>
            <a:ext cx="51758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stays authoritative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296775" y="5556796"/>
            <a:ext cx="484651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mirrors the rules for responsiveness; the server re-resolves and enforces on every write.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surface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213521"/>
            <a:ext cx="89006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676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backend implements against, before any module screen is opened.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422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08996"/>
            <a:ext cx="16306800" cy="4522291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9525">
            <a:solidFill>
              <a:srgbClr val="E9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5363" y="4113758"/>
            <a:ext cx="4237286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995363" y="4675733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9" name="Text 7"/>
          <p:cNvSpPr/>
          <p:nvPr/>
        </p:nvSpPr>
        <p:spPr>
          <a:xfrm>
            <a:off x="1243013" y="4285208"/>
            <a:ext cx="38691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32648" y="4113758"/>
            <a:ext cx="12059989" cy="571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232648" y="4675733"/>
            <a:ext cx="1205998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0298" y="4285208"/>
            <a:ext cx="119264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A0A5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95363" y="5729139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4" name="Text 12"/>
          <p:cNvSpPr/>
          <p:nvPr/>
        </p:nvSpPr>
        <p:spPr>
          <a:xfrm>
            <a:off x="1243013" y="4875758"/>
            <a:ext cx="38691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32648" y="5729139"/>
            <a:ext cx="1205998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0298" y="4875758"/>
            <a:ext cx="1192648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Tenant, Site, User, Device, Capability state, Attention rule, Attention counter, Config change — plus module-specific objects in each section.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5363" y="6451104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8" name="Text 16"/>
          <p:cNvSpPr/>
          <p:nvPr/>
        </p:nvSpPr>
        <p:spPr>
          <a:xfrm>
            <a:off x="1243013" y="5929164"/>
            <a:ext cx="38691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32648" y="6451104"/>
            <a:ext cx="1205998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0298" y="5929164"/>
            <a:ext cx="1192648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 that must hold regardless of client behaviour. The client mirrors them; the server owns them.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5363" y="7173069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2" name="Text 20"/>
          <p:cNvSpPr/>
          <p:nvPr/>
        </p:nvSpPr>
        <p:spPr>
          <a:xfrm>
            <a:off x="1243013" y="6651129"/>
            <a:ext cx="38691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32648" y="7173069"/>
            <a:ext cx="1205998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0298" y="6651129"/>
            <a:ext cx="1192648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capability.changed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capability.retired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plan.changed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profile.applied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usage.threshold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attention.changed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5363" y="7895034"/>
            <a:ext cx="4237286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1243013" y="7373094"/>
            <a:ext cx="38691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232648" y="7895034"/>
            <a:ext cx="12059989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0298" y="7373094"/>
            <a:ext cx="1192648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650" b="1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/v1/bootstrap 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tenant, sites, user, device, resolved capability map and attention counters in one call.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3013" y="8095059"/>
            <a:ext cx="3869104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0298" y="8095059"/>
            <a:ext cx="11926489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names its states, interactions, reads and writes — the four things a service needs to be built without guessing.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6A6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33500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46117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2927896"/>
            <a:ext cx="16306800" cy="1217265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3563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292789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8" name="Shape 6"/>
          <p:cNvSpPr/>
          <p:nvPr/>
        </p:nvSpPr>
        <p:spPr>
          <a:xfrm>
            <a:off x="17287875" y="2927896"/>
            <a:ext cx="9525" cy="121726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9" name="Text 7"/>
          <p:cNvSpPr/>
          <p:nvPr/>
        </p:nvSpPr>
        <p:spPr>
          <a:xfrm>
            <a:off x="1790700" y="3185071"/>
            <a:ext cx="111876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hardware scope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90700" y="3585121"/>
            <a:ext cx="104757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gym gate drive physical hardware in v1, or does the front desk stay the only enforcement point?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0600" y="4316611"/>
            <a:ext cx="16306800" cy="1217265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" y="552435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600" y="431661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7287875" y="4316611"/>
            <a:ext cx="9525" cy="121726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5" name="Text 13"/>
          <p:cNvSpPr/>
          <p:nvPr/>
        </p:nvSpPr>
        <p:spPr>
          <a:xfrm>
            <a:off x="1790700" y="4573786"/>
            <a:ext cx="10482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or static member QR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90700" y="4973836"/>
            <a:ext cx="98150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code is offline-trivial and shareable; a rotating one needs a clock the device may not have.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5705326"/>
            <a:ext cx="16306800" cy="1217265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691306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5705326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0" name="Shape 18"/>
          <p:cNvSpPr/>
          <p:nvPr/>
        </p:nvSpPr>
        <p:spPr>
          <a:xfrm>
            <a:off x="17287875" y="5705326"/>
            <a:ext cx="9525" cy="121726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1790700" y="5962501"/>
            <a:ext cx="962587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at the gate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90700" y="6362551"/>
            <a:ext cx="9013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refusal when a class or floor is full, or a receptionist hold that a manager can release?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" y="7094041"/>
            <a:ext cx="16306800" cy="1217265"/>
          </a:xfrm>
          <a:prstGeom prst="roundRect">
            <a:avLst>
              <a:gd name="adj" fmla="val 1252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8301782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600" y="7094041"/>
            <a:ext cx="16306800" cy="952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7287875" y="7094041"/>
            <a:ext cx="9525" cy="1217265"/>
          </a:xfrm>
          <a:prstGeom prst="rect">
            <a:avLst/>
          </a:prstGeom>
          <a:solidFill>
            <a:srgbClr val="E9ECEE"/>
          </a:solidFill>
          <a:ln/>
        </p:spPr>
      </p:sp>
      <p:sp>
        <p:nvSpPr>
          <p:cNvPr id="27" name="Text 25"/>
          <p:cNvSpPr/>
          <p:nvPr/>
        </p:nvSpPr>
        <p:spPr>
          <a:xfrm>
            <a:off x="1790700" y="7351216"/>
            <a:ext cx="10048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Mobile-money priority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790700" y="7751266"/>
            <a:ext cx="9408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30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providers integrate first, and does settlement confirmation arrive by callback or by poll?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A61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634829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b="1" spc="252" kern="0" dirty="0">
                <a:solidFill>
                  <a:srgbClr val="FFFFFF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4053929"/>
            <a:ext cx="1793748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questions, then build the services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4933950"/>
            <a:ext cx="890065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specification is stable enough to implement against. Each module section is independently buildable; the platform resolver and the event bus are the shared prerequisites.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9111704"/>
            <a:ext cx="179374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Koomzo — Functional Specification v1.1 · 28 August 2026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2026-08-28T20:57:02Z</dcterms:created>
  <dcterms:modified xsi:type="dcterms:W3CDTF">2026-08-28T20:57:02Z</dcterms:modified>
</cp:coreProperties>
</file>